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9F3E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victim makes the payment — with a scammer coaching them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66160" cy="3383280"/>
          </a:xfrm>
          <a:prstGeom prst="roundRect">
            <a:avLst/>
          </a:prstGeom>
          <a:solidFill>
            <a:srgbClr val="EE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0F4C5C"/>
                </a:solidFill>
                <a:latin typeface="Calibri"/>
              </a:rPr>
              <a:t>£576.4m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3108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B2B34"/>
                </a:solidFill>
                <a:latin typeface="Calibri"/>
              </a:rPr>
              <a:t>lost to authorised push payment fraud by UK banks in 2025 (+19% on 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434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D6F78"/>
                </a:solidFill>
                <a:latin typeface="Calibri"/>
              </a:rPr>
              <a:t>UK Finance, Annual Fraud Report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566160" cy="3383280"/>
          </a:xfrm>
          <a:prstGeom prst="roundRect">
            <a:avLst/>
          </a:prstGeom>
          <a:solidFill>
            <a:srgbClr val="EE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4592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0F4C5C"/>
                </a:solidFill>
                <a:latin typeface="Calibri"/>
              </a:rPr>
              <a:t>£85,000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06040"/>
            <a:ext cx="3108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B2B34"/>
                </a:solidFill>
                <a:latin typeface="Calibri"/>
              </a:rPr>
              <a:t>maximum the sending bank must now reimburse per claim — cost shared 50:50 with the receiving bank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3434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D6F78"/>
                </a:solidFill>
                <a:latin typeface="Calibri"/>
              </a:rPr>
              <a:t>Payment Systems Regulator, in force 7 Oct 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3566160" cy="3383280"/>
          </a:xfrm>
          <a:prstGeom prst="roundRect">
            <a:avLst/>
          </a:prstGeom>
          <a:solidFill>
            <a:srgbClr val="EE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64592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0F4C5C"/>
                </a:solidFill>
                <a:latin typeface="Calibri"/>
              </a:rPr>
              <a:t>1 voice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606040"/>
            <a:ext cx="3108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B2B34"/>
                </a:solidFill>
                <a:latin typeface="Calibri"/>
              </a:rPr>
              <a:t>on the phone telling the victim what to say to the bank: "tell her it's for a car deposit — don't mention me"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3434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D6F78"/>
                </a:solidFill>
                <a:latin typeface="Calibri"/>
              </a:rPr>
              <a:t>The gap: no check can hear them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749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B2B34"/>
                </a:solidFill>
                <a:latin typeface="Calibri"/>
              </a:rPr>
              <a:t>•  Scripted in-app warnings get clicked through, and a human intervention call can be coached too.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2B34"/>
                </a:solidFill>
                <a:latin typeface="Calibri"/>
              </a:rPr>
              <a:t>•  Because banks now carry the reimbursement cost, catching the coach at the moment of payment is money, not goodwill.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9F3E"/>
                </a:solidFill>
                <a:latin typeface="Calibri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Second Voice: a short Voice Check at the moment of payment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371600"/>
            <a:ext cx="731520" cy="731520"/>
          </a:xfrm>
          <a:prstGeom prst="ellips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0B2530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35331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F4C5C"/>
                </a:solidFill>
                <a:latin typeface="Calibri"/>
              </a:rPr>
              <a:t>Risky transfer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17320"/>
            <a:ext cx="7132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B2B34"/>
                </a:solidFill>
                <a:latin typeface="Calibri"/>
              </a:rPr>
              <a:t>New payee, name mismatch or an unusual amount opens an in-app Voice Check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59152"/>
            <a:ext cx="731520" cy="731520"/>
          </a:xfrm>
          <a:prstGeom prst="ellips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0B2530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40864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F4C5C"/>
                </a:solidFill>
                <a:latin typeface="Calibri"/>
              </a:rPr>
              <a:t>The agent talks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04872"/>
            <a:ext cx="7132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B2B34"/>
                </a:solidFill>
                <a:latin typeface="Calibri"/>
              </a:rPr>
              <a:t>What is it for? Who to? How were you contacted? It runs the bank's checks as tools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346704"/>
            <a:ext cx="731520" cy="731520"/>
          </a:xfrm>
          <a:prstGeom prst="ellips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0B2530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328416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F4C5C"/>
                </a:solidFill>
                <a:latin typeface="Calibri"/>
              </a:rPr>
              <a:t>It hears the coach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92424"/>
            <a:ext cx="7132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B2B34"/>
                </a:solidFill>
                <a:latin typeface="Calibri"/>
              </a:rPr>
              <a:t>Scripting, secrecy, rushing, "safe account" — and the customer repeating the coach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334256"/>
            <a:ext cx="731520" cy="731520"/>
          </a:xfrm>
          <a:prstGeom prst="ellips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0B2530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315968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F4C5C"/>
                </a:solidFill>
                <a:latin typeface="Calibri"/>
              </a:rPr>
              <a:t>One gentle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379976"/>
            <a:ext cx="7132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B2B34"/>
                </a:solidFill>
                <a:latin typeface="Calibri"/>
              </a:rPr>
              <a:t>"Is there someone with you right now? The bank will never ask you to lie."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321808"/>
            <a:ext cx="731520" cy="731520"/>
          </a:xfrm>
          <a:prstGeom prst="ellips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0B2530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3035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F4C5C"/>
                </a:solidFill>
                <a:latin typeface="Calibri"/>
              </a:rPr>
              <a:t>Explainable 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367528"/>
            <a:ext cx="7132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B2B34"/>
                </a:solidFill>
                <a:latin typeface="Calibri"/>
              </a:rPr>
              <a:t>Release · pause 24 h · escalate to a person. Never a flat refusal. Audit record.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9F3E"/>
                </a:solidFill>
                <a:latin typeface="Calibri"/>
              </a:rPr>
              <a:t>THE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Two views of the same call</a:t>
            </a:r>
          </a:p>
        </p:txBody>
      </p:sp>
      <p:pic>
        <p:nvPicPr>
          <p:cNvPr id="5" name="Picture 4" descr="officer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863840" cy="44713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1371600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2B34"/>
                </a:solidFill>
                <a:latin typeface="Calibri"/>
              </a:rPr>
              <a:t>•  Left: what the customer sees — kind, never accusing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B34"/>
                </a:solidFill>
                <a:latin typeface="Calibri"/>
              </a:rPr>
              <a:t>•  Right: the fraud officer — live score, every signal, itemised "why this score"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B34"/>
                </a:solidFill>
                <a:latin typeface="Calibri"/>
              </a:rPr>
              <a:t>•  Here: bank data alone held the £8,000 payment at 60. The coach pushed it to 100 and a hard trigger escalated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D6F78"/>
                </a:solidFill>
                <a:latin typeface="Calibri"/>
              </a:rPr>
              <a:t>Fictional bank, customer and accounts. Screenshot from a live run against the AssemblyAI Voice Agent API.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9F3E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One microphone, two AssemblyAI streams, one explainable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1828800" cy="1188720"/>
          </a:xfrm>
          <a:prstGeom prst="roundRect">
            <a:avLst/>
          </a:prstGeom>
          <a:solidFill>
            <a:srgbClr val="0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Customer's laptop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one shared mic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echo cancel 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463040"/>
            <a:ext cx="2743200" cy="1280160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Voice Agent API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conversation · tools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turn-taking · voice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3931920"/>
            <a:ext cx="2743200" cy="1280160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Realtime STT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speaker labels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per-word loudness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743200"/>
            <a:ext cx="2103120" cy="1188720"/>
          </a:xfrm>
          <a:prstGeom prst="roundRect">
            <a:avLst/>
          </a:prstGeom>
          <a:solidFill>
            <a:srgbClr val="1D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Signal Engine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coaching language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echo · room-only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463040"/>
            <a:ext cx="2194560" cy="1280160"/>
          </a:xfrm>
          <a:prstGeom prst="round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B2530"/>
                </a:solidFill>
                <a:latin typeface="Calibri"/>
              </a:rPr>
              <a:t>Risk Scorer</a:t>
            </a:r>
          </a:p>
          <a:p>
            <a:pPr algn="ctr"/>
            <a:r>
              <a:rPr sz="1400" b="0">
                <a:solidFill>
                  <a:srgbClr val="0B2530"/>
                </a:solidFill>
                <a:latin typeface="Calibri"/>
              </a:rPr>
              <a:t>points table</a:t>
            </a:r>
          </a:p>
          <a:p>
            <a:pPr algn="ctr"/>
            <a:r>
              <a:rPr sz="1400" b="0">
                <a:solidFill>
                  <a:srgbClr val="0B2530"/>
                </a:solidFill>
                <a:latin typeface="Calibri"/>
              </a:rPr>
              <a:t>hard triggers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3931920"/>
            <a:ext cx="2194560" cy="1280160"/>
          </a:xfrm>
          <a:prstGeom prst="roundRect">
            <a:avLst/>
          </a:prstGeom>
          <a:solidFill>
            <a:srgbClr val="0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Officer panel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audit record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no audio stored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377440" y="2194560"/>
            <a:ext cx="914400" cy="914400"/>
          </a:xfrm>
          <a:prstGeom prst="line">
            <a:avLst/>
          </a:prstGeom>
          <a:ln w="31750">
            <a:solidFill>
              <a:srgbClr val="5D6F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77440" y="3566160"/>
            <a:ext cx="914400" cy="914400"/>
          </a:xfrm>
          <a:prstGeom prst="line">
            <a:avLst/>
          </a:prstGeom>
          <a:ln w="31750">
            <a:solidFill>
              <a:srgbClr val="5D6F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2194560"/>
            <a:ext cx="731520" cy="914400"/>
          </a:xfrm>
          <a:prstGeom prst="line">
            <a:avLst/>
          </a:prstGeom>
          <a:ln w="31750">
            <a:solidFill>
              <a:srgbClr val="5D6F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035040" y="3566160"/>
            <a:ext cx="731520" cy="914400"/>
          </a:xfrm>
          <a:prstGeom prst="line">
            <a:avLst/>
          </a:prstGeom>
          <a:ln w="31750">
            <a:solidFill>
              <a:srgbClr val="5D6F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869680" y="2194560"/>
            <a:ext cx="640080" cy="914400"/>
          </a:xfrm>
          <a:prstGeom prst="line">
            <a:avLst/>
          </a:prstGeom>
          <a:ln w="31750">
            <a:solidFill>
              <a:srgbClr val="5D6F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869680" y="3566160"/>
            <a:ext cx="640080" cy="914400"/>
          </a:xfrm>
          <a:prstGeom prst="line">
            <a:avLst/>
          </a:prstGeom>
          <a:ln w="31750">
            <a:solidFill>
              <a:srgbClr val="5D6F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91840" y="5486400"/>
            <a:ext cx="8412480" cy="685800"/>
          </a:xfrm>
          <a:prstGeom prst="roundRect">
            <a:avLst/>
          </a:prstGeom>
          <a:solidFill>
            <a:srgbClr val="EEF5F7"/>
          </a:solidFill>
          <a:ln>
            <a:solidFill>
              <a:srgbClr val="E09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B2B34"/>
                </a:solidFill>
                <a:latin typeface="Calibri"/>
              </a:rPr>
              <a:t>Agent Injector: a trusted system message makes the agent ask ONE gentle question — at most once every 20 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607040" y="2743200"/>
            <a:ext cx="0" cy="0"/>
          </a:xfrm>
          <a:prstGeom prst="line">
            <a:avLst/>
          </a:prstGeom>
          <a:ln w="31750">
            <a:solidFill>
              <a:srgbClr val="5D6F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457200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D6F78"/>
                </a:solidFill>
                <a:latin typeface="Calibri"/>
              </a:rPr>
              <a:t>The LLM never decides: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D6F78"/>
                </a:solidFill>
                <a:latin typeface="Calibri"/>
              </a:rPr>
              <a:t>a transparent points table does.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9F3E"/>
                </a:solidFill>
                <a:latin typeface="Calibri"/>
              </a:rPr>
              <a:t>APPLICATION OF THE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Built deeply on AssemblyAI — and what we learned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4846320"/>
          </a:xfrm>
          <a:prstGeom prst="roundRect">
            <a:avLst/>
          </a:prstGeom>
          <a:solidFill>
            <a:srgbClr val="EE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F4C5C"/>
                </a:solidFill>
                <a:latin typeface="Calibri"/>
              </a:rPr>
              <a:t>What we 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B2B34"/>
                </a:solidFill>
                <a:latin typeface="Calibri"/>
              </a:rPr>
              <a:t>•  Voice Agent API: stored agent, 6 client-side tools, system-role context, reply.create, session.resume, voice_focus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2B34"/>
                </a:solidFill>
                <a:latin typeface="Calibri"/>
              </a:rPr>
              <a:t>•  Realtime STT (universal-3-6-pro): speaker diarization + per-word loudness from the same mic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2B34"/>
                </a:solidFill>
                <a:latin typeface="Calibri"/>
              </a:rPr>
              <a:t>•  Trusted vs untrusted: only system-role messages are trusted; everything spoken is data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2B34"/>
                </a:solidFill>
                <a:latin typeface="Calibri"/>
              </a:rPr>
              <a:t>•  Optional LLM Gateway second opinion behind the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EE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630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F4C5C"/>
                </a:solidFill>
                <a:latin typeface="Calibri"/>
              </a:rPr>
              <a:t>What building it taught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B2B34"/>
                </a:solidFill>
                <a:latin typeface="Calibri"/>
              </a:rPr>
              <a:t>•  Two differently-constrained mic streams silently lost echo cancellation — one shared stream fixed it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2B34"/>
                </a:solidFill>
                <a:latin typeface="Calibri"/>
              </a:rPr>
              <a:t>•  tool.result must go back only when reply.done is the latest event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2B34"/>
                </a:solidFill>
                <a:latin typeface="Calibri"/>
              </a:rPr>
              <a:t>•  A loud phone voice passes voice_focus: coaching shows up in the transcript, so content + echo beat source separation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2B34"/>
                </a:solidFill>
                <a:latin typeface="Calibri"/>
              </a:rPr>
              <a:t>•  Stored-agent voice and output.voice are separate fields — set both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9F3E"/>
                </a:solidFill>
                <a:latin typeface="Calibri"/>
              </a:rPr>
              <a:t>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Trust by design — and honest about the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E7D32"/>
                </a:solidFill>
                <a:latin typeface="Calibri"/>
              </a:rPr>
              <a:t>Built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2B34"/>
                </a:solidFill>
                <a:latin typeface="Calibri"/>
              </a:rPr>
              <a:t>•  Deterministic score; every reason is a line in the audit record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B34"/>
                </a:solidFill>
                <a:latin typeface="Calibri"/>
              </a:rPr>
              <a:t>•  Fail safe: mic denied, connection lost, bank unreachable → hold, never release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B34"/>
                </a:solidFill>
                <a:latin typeface="Calibri"/>
              </a:rPr>
              <a:t>•  Never a flat refusal; every hold offers a human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B34"/>
                </a:solidFill>
                <a:latin typeface="Calibri"/>
              </a:rPr>
              <a:t>•  Rules-first detector: a scammer saying "ignore your rules" gains nothing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B34"/>
                </a:solidFill>
                <a:latin typeface="Calibri"/>
              </a:rPr>
              <a:t>•  No audio stored; account numbers masked; spoken text escaped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B3261E"/>
                </a:solidFill>
                <a:latin typeface="Calibri"/>
              </a:rPr>
              <a:t>Limits we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2B34"/>
                </a:solidFill>
                <a:latin typeface="Calibri"/>
              </a:rPr>
              <a:t>•  Hears a coach at conversational volume within arm's reach; whispers across a room are not captured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B34"/>
                </a:solidFill>
                <a:latin typeface="Calibri"/>
              </a:rPr>
              <a:t>•  Speaker labels are a tie-breaker, not proof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B34"/>
                </a:solidFill>
                <a:latin typeface="Calibri"/>
              </a:rPr>
              <a:t>•  Agent speaks English only (understands 18 languages)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B34"/>
                </a:solidFill>
                <a:latin typeface="Calibri"/>
              </a:rPr>
              <a:t>•  Rules missed 2 of 10 held-out coaching lines — the case for the optional LLM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9F3E"/>
                </a:solidFill>
                <a:latin typeface="Calibri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Tested end to end, against the live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51760" cy="1737360"/>
          </a:xfrm>
          <a:prstGeom prst="roundRect">
            <a:avLst/>
          </a:prstGeom>
          <a:solidFill>
            <a:srgbClr val="EE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0F4C5C"/>
                </a:solidFill>
                <a:latin typeface="Calibri"/>
              </a:rPr>
              <a:t>447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468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1B2B34"/>
                </a:solidFill>
                <a:latin typeface="Calibri"/>
              </a:rPr>
              <a:t>automated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651760" cy="1737360"/>
          </a:xfrm>
          <a:prstGeom prst="roundRect">
            <a:avLst/>
          </a:prstGeom>
          <a:solidFill>
            <a:srgbClr val="EE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46304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0F4C5C"/>
                </a:solidFill>
                <a:latin typeface="Calibri"/>
              </a:rPr>
              <a:t>7 /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377440"/>
            <a:ext cx="2468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1B2B34"/>
                </a:solidFill>
                <a:latin typeface="Calibri"/>
              </a:rPr>
              <a:t>coached scam runs escalated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651760" cy="1737360"/>
          </a:xfrm>
          <a:prstGeom prst="roundRect">
            <a:avLst/>
          </a:prstGeom>
          <a:solidFill>
            <a:srgbClr val="EE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46304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0F4C5C"/>
                </a:solidFill>
                <a:latin typeface="Calibri"/>
              </a:rPr>
              <a:t>2 /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377440"/>
            <a:ext cx="2468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1B2B34"/>
                </a:solidFill>
                <a:latin typeface="Calibri"/>
              </a:rPr>
              <a:t>honest customer runs released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371600"/>
            <a:ext cx="2651760" cy="1737360"/>
          </a:xfrm>
          <a:prstGeom prst="roundRect">
            <a:avLst/>
          </a:prstGeom>
          <a:solidFill>
            <a:srgbClr val="EE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46304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0F4C5C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377440"/>
            <a:ext cx="2468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1B2B34"/>
                </a:solidFill>
                <a:latin typeface="Calibri"/>
              </a:rPr>
              <a:t>real bugs found by live runs, all fixed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2900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2B34"/>
                </a:solidFill>
                <a:latin typeface="Calibri"/>
              </a:rPr>
              <a:t>•  The whole flow runs in headless Chrome with a fake microphone: a synthetic customer and coach, the real Voice Agent API, Realtime STT and tools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B34"/>
                </a:solidFill>
                <a:latin typeface="Calibri"/>
              </a:rPr>
              <a:t>•  Live runs caught bugs unit tests could not: a React crash, an echo window that was too short, sentences split by common words, and an honest customer flagged because of the agent's own paraphrase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B34"/>
                </a:solidFill>
                <a:latin typeface="Calibri"/>
              </a:rPr>
              <a:t>•  Detector on labelled cases: 16/16 visible, 8/10 held-out, zero false alarms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B34"/>
                </a:solidFill>
                <a:latin typeface="Calibri"/>
              </a:rPr>
              <a:t>•  Still to do: real human voices and a real phone on speakerphone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9F3E"/>
                </a:solidFill>
                <a:latin typeface="Calibri"/>
              </a:rP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Why a bank would deploy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B2B34"/>
                </a:solidFill>
                <a:latin typeface="Calibri"/>
              </a:rPr>
              <a:t>•  It acts at the one moment the loss can still be stopped — before the money moves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B34"/>
                </a:solidFill>
                <a:latin typeface="Calibri"/>
              </a:rPr>
              <a:t>•  Each prevented claim avoids up to £85,000 of reimbursement cost, shared 50:50 with the receiving bank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B34"/>
                </a:solidFill>
                <a:latin typeface="Calibri"/>
              </a:rPr>
              <a:t>•  Legitimate payments meet no friction: a known payee under £1,000 never sees a check; an honest new payee is released after a short conversation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B34"/>
                </a:solidFill>
                <a:latin typeface="Calibri"/>
              </a:rPr>
              <a:t>•  Explainable by design: a fraud team and a regulator can read exactly why a payment was held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B34"/>
                </a:solidFill>
                <a:latin typeface="Calibri"/>
              </a:rPr>
              <a:t>•  Drops into an existing app (web or mobile SDK) or a contact-centre flow — browser today, inbound phone next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B34"/>
                </a:solidFill>
                <a:latin typeface="Calibri"/>
              </a:rPr>
              <a:t>•  What to measure in a pilot: losses prevented, false-positive rate, time added to a legitimate payment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9F3E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B2B34"/>
                </a:solidFill>
                <a:latin typeface="Calibri"/>
              </a:rPr>
              <a:t>•  Real-voice and real-phone validation, plus a range study (30 / 60 / 100 cm)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B34"/>
                </a:solidFill>
                <a:latin typeface="Calibri"/>
              </a:rPr>
              <a:t>•  Inbound phone channel through a SIP trunk (supported by the Voice Agent API)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B34"/>
                </a:solidFill>
                <a:latin typeface="Calibri"/>
              </a:rPr>
              <a:t>•  Multilingual customers: the agent already understands 18 languages; native-accent replies are on AssemblyAI's roadmap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B34"/>
                </a:solidFill>
                <a:latin typeface="Calibri"/>
              </a:rPr>
              <a:t>•  LLM second opinion on a paid tier for paraphrased coaching the rules miss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B34"/>
                </a:solidFill>
                <a:latin typeface="Calibri"/>
              </a:rPr>
              <a:t>•  A pilot with a real bank's fraud 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463040"/>
            <a:ext cx="4023360" cy="3840480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737360"/>
            <a:ext cx="3566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Scammers coach their victims.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Second Voice hears the coach.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420624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09F3E"/>
                </a:solidFill>
                <a:latin typeface="Calibri"/>
              </a:rPr>
              <a:t>github.com/adwik1401/second-voice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